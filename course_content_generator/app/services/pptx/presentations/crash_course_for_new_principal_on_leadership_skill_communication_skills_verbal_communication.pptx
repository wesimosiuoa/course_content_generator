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3200400"/>
            <a:ext cx="9144000" cy="19431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371600"/>
            <a:ext cx="8229600" cy="1828800"/>
          </a:xfrm>
          <a:prstGeom prst="rect">
            <a:avLst/>
          </a:prstGeom>
          <a:noFill/>
        </p:spPr>
        <p:txBody>
          <a:bodyPr wrap="square" anchor="ctr">
            <a:spAutoFit/>
          </a:bodyPr>
          <a:lstStyle/>
          <a:p>
            <a:pPr algn="ctr">
              <a:defRPr sz="5400" b="1">
                <a:solidFill>
                  <a:srgbClr val="FFFFFF"/>
                </a:solidFill>
              </a:defRPr>
            </a:pPr>
            <a:r>
              <a:t>Crash Course for New Principals: Leadership Skills</a:t>
            </a:r>
          </a:p>
        </p:txBody>
      </p:sp>
      <p:sp>
        <p:nvSpPr>
          <p:cNvPr id="5" name="TextBox 4"/>
          <p:cNvSpPr txBox="1"/>
          <p:nvPr/>
        </p:nvSpPr>
        <p:spPr>
          <a:xfrm>
            <a:off x="457200" y="3383280"/>
            <a:ext cx="8229600" cy="1371600"/>
          </a:xfrm>
          <a:prstGeom prst="rect">
            <a:avLst/>
          </a:prstGeom>
          <a:noFill/>
        </p:spPr>
        <p:txBody>
          <a:bodyPr wrap="square">
            <a:spAutoFit/>
          </a:bodyPr>
          <a:lstStyle/>
          <a:p>
            <a:pPr algn="ctr">
              <a:defRPr sz="2800">
                <a:solidFill>
                  <a:srgbClr val="1967D2"/>
                </a:solidFill>
              </a:defRPr>
            </a:pPr>
            <a:r>
              <a:t>Module: Communication Skills - Lesson: Verbal Communication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73152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0"/>
            <a:ext cx="73152" cy="4411980"/>
          </a:xfrm>
          <a:prstGeom prst="rect">
            <a:avLst/>
          </a:prstGeom>
          <a:solidFill>
            <a:srgbClr val="4285F4"/>
          </a:solidFill>
          <a:ln>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
            <a:ext cx="8229600" cy="457200"/>
          </a:xfrm>
          <a:prstGeom prst="rect">
            <a:avLst/>
          </a:prstGeom>
          <a:noFill/>
        </p:spPr>
        <p:txBody>
          <a:bodyPr wrap="none" anchor="ctr">
            <a:spAutoFit/>
          </a:bodyPr>
          <a:lstStyle/>
          <a:p>
            <a:pPr>
              <a:defRPr sz="4000" b="1">
                <a:solidFill>
                  <a:srgbClr val="FFFFFF"/>
                </a:solidFill>
              </a:defRPr>
            </a:pPr>
            <a:r>
              <a:t>Introduction to Verbal Communication</a:t>
            </a:r>
          </a:p>
        </p:txBody>
      </p:sp>
      <p:sp>
        <p:nvSpPr>
          <p:cNvPr id="6" name="TextBox 5"/>
          <p:cNvSpPr txBox="1"/>
          <p:nvPr/>
        </p:nvSpPr>
        <p:spPr>
          <a:xfrm>
            <a:off x="7772400" y="182880"/>
            <a:ext cx="1097280" cy="365760"/>
          </a:xfrm>
          <a:prstGeom prst="rect">
            <a:avLst/>
          </a:prstGeom>
          <a:noFill/>
        </p:spPr>
        <p:txBody>
          <a:bodyPr wrap="none">
            <a:spAutoFit/>
          </a:bodyPr>
          <a:lstStyle/>
          <a:p>
            <a:pPr>
              <a:defRPr sz="1600">
                <a:solidFill>
                  <a:srgbClr val="FFFFFF"/>
                </a:solidFill>
              </a:defRPr>
            </a:pPr>
            <a:r>
              <a:t>2</a:t>
            </a:r>
          </a:p>
        </p:txBody>
      </p:sp>
      <p:sp>
        <p:nvSpPr>
          <p:cNvPr id="7" name="TextBox 6"/>
          <p:cNvSpPr txBox="1"/>
          <p:nvPr/>
        </p:nvSpPr>
        <p:spPr>
          <a:xfrm>
            <a:off x="640080" y="1097280"/>
            <a:ext cx="7863840" cy="3657600"/>
          </a:xfrm>
          <a:prstGeom prst="rect">
            <a:avLst/>
          </a:prstGeom>
          <a:noFill/>
        </p:spPr>
        <p:txBody>
          <a:bodyPr wrap="square">
            <a:spAutoFit/>
          </a:bodyPr>
          <a:lstStyle/>
          <a:p>
            <a:pPr>
              <a:lnSpc>
                <a:spcPct val="150000"/>
              </a:lnSpc>
              <a:spcAft>
                <a:spcPts val="1200"/>
              </a:spcAft>
              <a:defRPr sz="1800">
                <a:solidFill>
                  <a:srgbClr val="323232"/>
                </a:solidFill>
              </a:defRPr>
            </a:pPr>
            <a:r>
              <a:t>Verbal communication is the process of exchanging information through words. It is a crucial aspect of leadership, as it enables principals to convey their vision, provide feedback, and build relationships with students, teachers, and parents. Effective verbal communication involves not only the words we choose but also our tone, pitch, and body language.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73152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0"/>
            <a:ext cx="73152" cy="4411980"/>
          </a:xfrm>
          <a:prstGeom prst="rect">
            <a:avLst/>
          </a:prstGeom>
          <a:solidFill>
            <a:srgbClr val="4285F4"/>
          </a:solidFill>
          <a:ln>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
            <a:ext cx="8229600" cy="457200"/>
          </a:xfrm>
          <a:prstGeom prst="rect">
            <a:avLst/>
          </a:prstGeom>
          <a:noFill/>
        </p:spPr>
        <p:txBody>
          <a:bodyPr wrap="none" anchor="ctr">
            <a:spAutoFit/>
          </a:bodyPr>
          <a:lstStyle/>
          <a:p>
            <a:pPr>
              <a:defRPr sz="4000" b="1">
                <a:solidFill>
                  <a:srgbClr val="FFFFFF"/>
                </a:solidFill>
              </a:defRPr>
            </a:pPr>
            <a:r>
              <a:t>Principles of Effective Verbal Communication</a:t>
            </a:r>
          </a:p>
        </p:txBody>
      </p:sp>
      <p:sp>
        <p:nvSpPr>
          <p:cNvPr id="6" name="TextBox 5"/>
          <p:cNvSpPr txBox="1"/>
          <p:nvPr/>
        </p:nvSpPr>
        <p:spPr>
          <a:xfrm>
            <a:off x="7772400" y="182880"/>
            <a:ext cx="1097280" cy="365760"/>
          </a:xfrm>
          <a:prstGeom prst="rect">
            <a:avLst/>
          </a:prstGeom>
          <a:noFill/>
        </p:spPr>
        <p:txBody>
          <a:bodyPr wrap="none">
            <a:spAutoFit/>
          </a:bodyPr>
          <a:lstStyle/>
          <a:p>
            <a:pPr>
              <a:defRPr sz="1600">
                <a:solidFill>
                  <a:srgbClr val="FFFFFF"/>
                </a:solidFill>
              </a:defRPr>
            </a:pPr>
            <a:r>
              <a:t>3</a:t>
            </a:r>
          </a:p>
        </p:txBody>
      </p:sp>
      <p:sp>
        <p:nvSpPr>
          <p:cNvPr id="7" name="TextBox 6"/>
          <p:cNvSpPr txBox="1"/>
          <p:nvPr/>
        </p:nvSpPr>
        <p:spPr>
          <a:xfrm>
            <a:off x="640080" y="1097280"/>
            <a:ext cx="7863840" cy="3657600"/>
          </a:xfrm>
          <a:prstGeom prst="rect">
            <a:avLst/>
          </a:prstGeom>
          <a:noFill/>
        </p:spPr>
        <p:txBody>
          <a:bodyPr wrap="square">
            <a:spAutoFit/>
          </a:bodyPr>
          <a:lstStyle/>
          <a:p>
            <a:pPr>
              <a:spcBef>
                <a:spcPts val="1000"/>
              </a:spcBef>
              <a:spcAft>
                <a:spcPts val="1000"/>
              </a:spcAft>
              <a:defRPr sz="2000">
                <a:solidFill>
                  <a:srgbClr val="323232"/>
                </a:solidFill>
              </a:defRPr>
            </a:pPr>
            <a:r>
              <a:t>Clarity: Clearly articulate your message to avoid misunderstandings</a:t>
            </a:r>
          </a:p>
          <a:p>
            <a:pPr>
              <a:spcBef>
                <a:spcPts val="1000"/>
              </a:spcBef>
              <a:spcAft>
                <a:spcPts val="1000"/>
              </a:spcAft>
              <a:defRPr sz="2000">
                <a:solidFill>
                  <a:srgbClr val="323232"/>
                </a:solidFill>
              </a:defRPr>
            </a:pPr>
            <a:r>
              <a:t>Conciseness: Be brief and to the point to maintain the audience's attention</a:t>
            </a:r>
          </a:p>
          <a:p>
            <a:pPr>
              <a:spcBef>
                <a:spcPts val="1000"/>
              </a:spcBef>
              <a:spcAft>
                <a:spcPts val="1000"/>
              </a:spcAft>
              <a:defRPr sz="2000">
                <a:solidFill>
                  <a:srgbClr val="323232"/>
                </a:solidFill>
              </a:defRPr>
            </a:pPr>
            <a:r>
              <a:t>Audience awareness: Consider the needs, interests, and level of understanding of your audience</a:t>
            </a:r>
          </a:p>
          <a:p>
            <a:pPr>
              <a:spcBef>
                <a:spcPts val="1000"/>
              </a:spcBef>
              <a:spcAft>
                <a:spcPts val="1000"/>
              </a:spcAft>
              <a:defRPr sz="2000">
                <a:solidFill>
                  <a:srgbClr val="323232"/>
                </a:solidFill>
              </a:defRPr>
            </a:pPr>
            <a:r>
              <a:t>Active listening: Pay attention to the feedback and respond accordingly</a:t>
            </a:r>
          </a:p>
          <a:p>
            <a:pPr>
              <a:spcBef>
                <a:spcPts val="1000"/>
              </a:spcBef>
              <a:spcAft>
                <a:spcPts val="1000"/>
              </a:spcAft>
              <a:defRPr sz="2000">
                <a:solidFill>
                  <a:srgbClr val="323232"/>
                </a:solidFill>
              </a:defRPr>
            </a:pPr>
            <a:r>
              <a:t>Cultural sensitivity: Be aware of the cultural differences and nuances in communication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73152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0"/>
            <a:ext cx="73152" cy="4411980"/>
          </a:xfrm>
          <a:prstGeom prst="rect">
            <a:avLst/>
          </a:prstGeom>
          <a:solidFill>
            <a:srgbClr val="4285F4"/>
          </a:solidFill>
          <a:ln>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
            <a:ext cx="8229600" cy="457200"/>
          </a:xfrm>
          <a:prstGeom prst="rect">
            <a:avLst/>
          </a:prstGeom>
          <a:noFill/>
        </p:spPr>
        <p:txBody>
          <a:bodyPr wrap="none" anchor="ctr">
            <a:spAutoFit/>
          </a:bodyPr>
          <a:lstStyle/>
          <a:p>
            <a:pPr>
              <a:defRPr sz="4000" b="1">
                <a:solidFill>
                  <a:srgbClr val="FFFFFF"/>
                </a:solidFill>
              </a:defRPr>
            </a:pPr>
            <a:r>
              <a:t>The Importance of Nonverbal Cues in Verbal Communication</a:t>
            </a:r>
          </a:p>
        </p:txBody>
      </p:sp>
      <p:sp>
        <p:nvSpPr>
          <p:cNvPr id="6" name="TextBox 5"/>
          <p:cNvSpPr txBox="1"/>
          <p:nvPr/>
        </p:nvSpPr>
        <p:spPr>
          <a:xfrm>
            <a:off x="7772400" y="182880"/>
            <a:ext cx="1097280" cy="365760"/>
          </a:xfrm>
          <a:prstGeom prst="rect">
            <a:avLst/>
          </a:prstGeom>
          <a:noFill/>
        </p:spPr>
        <p:txBody>
          <a:bodyPr wrap="none">
            <a:spAutoFit/>
          </a:bodyPr>
          <a:lstStyle/>
          <a:p>
            <a:pPr>
              <a:defRPr sz="1600">
                <a:solidFill>
                  <a:srgbClr val="FFFFFF"/>
                </a:solidFill>
              </a:defRPr>
            </a:pPr>
            <a:r>
              <a:t>4</a:t>
            </a:r>
          </a:p>
        </p:txBody>
      </p:sp>
      <p:sp>
        <p:nvSpPr>
          <p:cNvPr id="7" name="TextBox 6"/>
          <p:cNvSpPr txBox="1"/>
          <p:nvPr/>
        </p:nvSpPr>
        <p:spPr>
          <a:xfrm>
            <a:off x="640080" y="1097280"/>
            <a:ext cx="7863840" cy="3657600"/>
          </a:xfrm>
          <a:prstGeom prst="rect">
            <a:avLst/>
          </a:prstGeom>
          <a:noFill/>
        </p:spPr>
        <p:txBody>
          <a:bodyPr wrap="square">
            <a:spAutoFit/>
          </a:bodyPr>
          <a:lstStyle/>
          <a:p>
            <a:pPr>
              <a:lnSpc>
                <a:spcPct val="150000"/>
              </a:lnSpc>
              <a:spcAft>
                <a:spcPts val="1200"/>
              </a:spcAft>
              <a:defRPr sz="1800">
                <a:solidFill>
                  <a:srgbClr val="323232"/>
                </a:solidFill>
              </a:defRPr>
            </a:pPr>
            <a:r>
              <a:t>Nonverbal cues such as facial expressions, eye contact, and body language play a significant role in verbal communication. They can convey emotions, attitudes, and intentions, and can either reinforce or contradict the message being conveyed. Principals should be aware of their nonverbal cues and use them to enhance their verbal communication, creating a positive and supportive learning environment.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73152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0"/>
            <a:ext cx="73152" cy="4411980"/>
          </a:xfrm>
          <a:prstGeom prst="rect">
            <a:avLst/>
          </a:prstGeom>
          <a:solidFill>
            <a:srgbClr val="4285F4"/>
          </a:solidFill>
          <a:ln>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
            <a:ext cx="8229600" cy="457200"/>
          </a:xfrm>
          <a:prstGeom prst="rect">
            <a:avLst/>
          </a:prstGeom>
          <a:noFill/>
        </p:spPr>
        <p:txBody>
          <a:bodyPr wrap="none" anchor="ctr">
            <a:spAutoFit/>
          </a:bodyPr>
          <a:lstStyle/>
          <a:p>
            <a:pPr>
              <a:defRPr sz="4000" b="1">
                <a:solidFill>
                  <a:srgbClr val="FFFFFF"/>
                </a:solidFill>
              </a:defRPr>
            </a:pPr>
            <a:r>
              <a:t>Why Effective Verbal Communication Matters</a:t>
            </a:r>
          </a:p>
        </p:txBody>
      </p:sp>
      <p:sp>
        <p:nvSpPr>
          <p:cNvPr id="6" name="TextBox 5"/>
          <p:cNvSpPr txBox="1"/>
          <p:nvPr/>
        </p:nvSpPr>
        <p:spPr>
          <a:xfrm>
            <a:off x="7772400" y="182880"/>
            <a:ext cx="1097280" cy="365760"/>
          </a:xfrm>
          <a:prstGeom prst="rect">
            <a:avLst/>
          </a:prstGeom>
          <a:noFill/>
        </p:spPr>
        <p:txBody>
          <a:bodyPr wrap="none">
            <a:spAutoFit/>
          </a:bodyPr>
          <a:lstStyle/>
          <a:p>
            <a:pPr>
              <a:defRPr sz="1600">
                <a:solidFill>
                  <a:srgbClr val="FFFFFF"/>
                </a:solidFill>
              </a:defRPr>
            </a:pPr>
            <a:r>
              <a:t>5</a:t>
            </a:r>
          </a:p>
        </p:txBody>
      </p:sp>
      <p:sp>
        <p:nvSpPr>
          <p:cNvPr id="7" name="TextBox 6"/>
          <p:cNvSpPr txBox="1"/>
          <p:nvPr/>
        </p:nvSpPr>
        <p:spPr>
          <a:xfrm>
            <a:off x="640080" y="1097280"/>
            <a:ext cx="7863840" cy="3657600"/>
          </a:xfrm>
          <a:prstGeom prst="rect">
            <a:avLst/>
          </a:prstGeom>
          <a:noFill/>
        </p:spPr>
        <p:txBody>
          <a:bodyPr wrap="square">
            <a:spAutoFit/>
          </a:bodyPr>
          <a:lstStyle/>
          <a:p>
            <a:pPr>
              <a:spcBef>
                <a:spcPts val="1000"/>
              </a:spcBef>
              <a:spcAft>
                <a:spcPts val="1000"/>
              </a:spcAft>
              <a:defRPr sz="2000">
                <a:solidFill>
                  <a:srgbClr val="323232"/>
                </a:solidFill>
              </a:defRPr>
            </a:pPr>
            <a:r>
              <a:t>Builds trust and credibility with students, teachers, and parents</a:t>
            </a:r>
          </a:p>
          <a:p>
            <a:pPr>
              <a:spcBef>
                <a:spcPts val="1000"/>
              </a:spcBef>
              <a:spcAft>
                <a:spcPts val="1000"/>
              </a:spcAft>
              <a:defRPr sz="2000">
                <a:solidFill>
                  <a:srgbClr val="323232"/>
                </a:solidFill>
              </a:defRPr>
            </a:pPr>
            <a:r>
              <a:t>Enhances collaboration and teamwork among staff members</a:t>
            </a:r>
          </a:p>
          <a:p>
            <a:pPr>
              <a:spcBef>
                <a:spcPts val="1000"/>
              </a:spcBef>
              <a:spcAft>
                <a:spcPts val="1000"/>
              </a:spcAft>
              <a:defRPr sz="2000">
                <a:solidFill>
                  <a:srgbClr val="323232"/>
                </a:solidFill>
              </a:defRPr>
            </a:pPr>
            <a:r>
              <a:t>Fosters a positive and supportive school culture</a:t>
            </a:r>
          </a:p>
          <a:p>
            <a:pPr>
              <a:spcBef>
                <a:spcPts val="1000"/>
              </a:spcBef>
              <a:spcAft>
                <a:spcPts val="1000"/>
              </a:spcAft>
              <a:defRPr sz="2000">
                <a:solidFill>
                  <a:srgbClr val="323232"/>
                </a:solidFill>
              </a:defRPr>
            </a:pPr>
            <a:r>
              <a:t>Resolves conflicts and misunderstandings effectively</a:t>
            </a:r>
          </a:p>
          <a:p>
            <a:pPr>
              <a:spcBef>
                <a:spcPts val="1000"/>
              </a:spcBef>
              <a:spcAft>
                <a:spcPts val="1000"/>
              </a:spcAft>
              <a:defRPr sz="2000">
                <a:solidFill>
                  <a:srgbClr val="323232"/>
                </a:solidFill>
              </a:defRPr>
            </a:pPr>
            <a:r>
              <a:t>Improves student outcomes and academic achievement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73152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0"/>
            <a:ext cx="73152" cy="4411980"/>
          </a:xfrm>
          <a:prstGeom prst="rect">
            <a:avLst/>
          </a:prstGeom>
          <a:solidFill>
            <a:srgbClr val="4285F4"/>
          </a:solidFill>
          <a:ln>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
            <a:ext cx="8229600" cy="457200"/>
          </a:xfrm>
          <a:prstGeom prst="rect">
            <a:avLst/>
          </a:prstGeom>
          <a:noFill/>
        </p:spPr>
        <p:txBody>
          <a:bodyPr wrap="none" anchor="ctr">
            <a:spAutoFit/>
          </a:bodyPr>
          <a:lstStyle/>
          <a:p>
            <a:pPr>
              <a:defRPr sz="4000" b="1">
                <a:solidFill>
                  <a:srgbClr val="FFFFFF"/>
                </a:solidFill>
              </a:defRPr>
            </a:pPr>
            <a:r>
              <a:t>Key Takeaway: Summary of Effective Verbal Communication</a:t>
            </a:r>
          </a:p>
        </p:txBody>
      </p:sp>
      <p:sp>
        <p:nvSpPr>
          <p:cNvPr id="6" name="TextBox 5"/>
          <p:cNvSpPr txBox="1"/>
          <p:nvPr/>
        </p:nvSpPr>
        <p:spPr>
          <a:xfrm>
            <a:off x="7772400" y="182880"/>
            <a:ext cx="1097280" cy="365760"/>
          </a:xfrm>
          <a:prstGeom prst="rect">
            <a:avLst/>
          </a:prstGeom>
          <a:noFill/>
        </p:spPr>
        <p:txBody>
          <a:bodyPr wrap="none">
            <a:spAutoFit/>
          </a:bodyPr>
          <a:lstStyle/>
          <a:p>
            <a:pPr>
              <a:defRPr sz="1600">
                <a:solidFill>
                  <a:srgbClr val="FFFFFF"/>
                </a:solidFill>
              </a:defRPr>
            </a:pPr>
            <a:r>
              <a:t>6</a:t>
            </a:r>
          </a:p>
        </p:txBody>
      </p:sp>
      <p:sp>
        <p:nvSpPr>
          <p:cNvPr id="7" name="TextBox 6"/>
          <p:cNvSpPr txBox="1"/>
          <p:nvPr/>
        </p:nvSpPr>
        <p:spPr>
          <a:xfrm>
            <a:off x="640080" y="1097280"/>
            <a:ext cx="7863840" cy="3657600"/>
          </a:xfrm>
          <a:prstGeom prst="rect">
            <a:avLst/>
          </a:prstGeom>
          <a:noFill/>
        </p:spPr>
        <p:txBody>
          <a:bodyPr wrap="square">
            <a:spAutoFit/>
          </a:bodyPr>
          <a:lstStyle/>
          <a:p>
            <a:pPr>
              <a:lnSpc>
                <a:spcPct val="150000"/>
              </a:lnSpc>
              <a:spcAft>
                <a:spcPts val="1200"/>
              </a:spcAft>
              <a:defRPr sz="1800">
                <a:solidFill>
                  <a:srgbClr val="323232"/>
                </a:solidFill>
              </a:defRPr>
            </a:pPr>
            <a:r>
              <a:t>Effective verbal communication is a critical leadership skill for new principals. By applying the principles of clarity, conciseness, audience awareness, active listening, and cultural sensitivity, and being mindful of nonverbal cues, principals can build strong relationships, convey their vision, and create a positive and supportive learning environment. Remember, verbal communication is not just about conveying information, but also about building trust, credibility, and relationships that are essential for a successful and effective school leadership.</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144000" cy="731520"/>
          </a:xfrm>
          <a:prstGeom prst="rect">
            <a:avLst/>
          </a:prstGeom>
          <a:solidFill>
            <a:srgbClr val="1967D2"/>
          </a:solidFill>
          <a:ln>
            <a:solidFill>
              <a:srgbClr val="1967D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731520"/>
            <a:ext cx="73152" cy="4411980"/>
          </a:xfrm>
          <a:prstGeom prst="rect">
            <a:avLst/>
          </a:prstGeom>
          <a:solidFill>
            <a:srgbClr val="4285F4"/>
          </a:solidFill>
          <a:ln>
            <a:solidFill>
              <a:srgbClr val="4285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
            <a:ext cx="8229600" cy="457200"/>
          </a:xfrm>
          <a:prstGeom prst="rect">
            <a:avLst/>
          </a:prstGeom>
          <a:noFill/>
        </p:spPr>
        <p:txBody>
          <a:bodyPr wrap="none" anchor="ctr">
            <a:spAutoFit/>
          </a:bodyPr>
          <a:lstStyle/>
          <a:p>
            <a:pPr>
              <a:defRPr sz="4000" b="1">
                <a:solidFill>
                  <a:srgbClr val="FFFFFF"/>
                </a:solidFill>
              </a:defRPr>
            </a:pPr>
            <a:r>
              <a:t>Action Plan: Implementing Effective Verbal Communication</a:t>
            </a:r>
          </a:p>
        </p:txBody>
      </p:sp>
      <p:sp>
        <p:nvSpPr>
          <p:cNvPr id="6" name="TextBox 5"/>
          <p:cNvSpPr txBox="1"/>
          <p:nvPr/>
        </p:nvSpPr>
        <p:spPr>
          <a:xfrm>
            <a:off x="7772400" y="182880"/>
            <a:ext cx="1097280" cy="365760"/>
          </a:xfrm>
          <a:prstGeom prst="rect">
            <a:avLst/>
          </a:prstGeom>
          <a:noFill/>
        </p:spPr>
        <p:txBody>
          <a:bodyPr wrap="none">
            <a:spAutoFit/>
          </a:bodyPr>
          <a:lstStyle/>
          <a:p>
            <a:pPr>
              <a:defRPr sz="1600">
                <a:solidFill>
                  <a:srgbClr val="FFFFFF"/>
                </a:solidFill>
              </a:defRPr>
            </a:pPr>
            <a:r>
              <a:t>7</a:t>
            </a:r>
          </a:p>
        </p:txBody>
      </p:sp>
      <p:sp>
        <p:nvSpPr>
          <p:cNvPr id="7" name="TextBox 6"/>
          <p:cNvSpPr txBox="1"/>
          <p:nvPr/>
        </p:nvSpPr>
        <p:spPr>
          <a:xfrm>
            <a:off x="640080" y="1097280"/>
            <a:ext cx="7863840" cy="3657600"/>
          </a:xfrm>
          <a:prstGeom prst="rect">
            <a:avLst/>
          </a:prstGeom>
          <a:noFill/>
        </p:spPr>
        <p:txBody>
          <a:bodyPr wrap="square">
            <a:spAutoFit/>
          </a:bodyPr>
          <a:lstStyle/>
          <a:p>
            <a:pPr>
              <a:spcBef>
                <a:spcPts val="1000"/>
              </a:spcBef>
              <a:spcAft>
                <a:spcPts val="1000"/>
              </a:spcAft>
              <a:defRPr sz="2000">
                <a:solidFill>
                  <a:srgbClr val="323232"/>
                </a:solidFill>
              </a:defRPr>
            </a:pPr>
            <a:r>
              <a:t>Practice active listening and ask for feedback</a:t>
            </a:r>
          </a:p>
          <a:p>
            <a:pPr>
              <a:spcBef>
                <a:spcPts val="1000"/>
              </a:spcBef>
              <a:spcAft>
                <a:spcPts val="1000"/>
              </a:spcAft>
              <a:defRPr sz="2000">
                <a:solidFill>
                  <a:srgbClr val="323232"/>
                </a:solidFill>
              </a:defRPr>
            </a:pPr>
            <a:r>
              <a:t>Be aware of your nonverbal cues and use them to enhance your message</a:t>
            </a:r>
          </a:p>
          <a:p>
            <a:pPr>
              <a:spcBef>
                <a:spcPts val="1000"/>
              </a:spcBef>
              <a:spcAft>
                <a:spcPts val="1000"/>
              </a:spcAft>
              <a:defRPr sz="2000">
                <a:solidFill>
                  <a:srgbClr val="323232"/>
                </a:solidFill>
              </a:defRPr>
            </a:pPr>
            <a:r>
              <a:t>Use clear and concise language in all communications</a:t>
            </a:r>
          </a:p>
          <a:p>
            <a:pPr>
              <a:spcBef>
                <a:spcPts val="1000"/>
              </a:spcBef>
              <a:spcAft>
                <a:spcPts val="1000"/>
              </a:spcAft>
              <a:defRPr sz="2000">
                <a:solidFill>
                  <a:srgbClr val="323232"/>
                </a:solidFill>
              </a:defRPr>
            </a:pPr>
            <a:r>
              <a:t>Consider the needs and interests of your audience</a:t>
            </a:r>
          </a:p>
          <a:p>
            <a:pPr>
              <a:spcBef>
                <a:spcPts val="1000"/>
              </a:spcBef>
              <a:spcAft>
                <a:spcPts val="1000"/>
              </a:spcAft>
              <a:defRPr sz="2000">
                <a:solidFill>
                  <a:srgbClr val="323232"/>
                </a:solidFill>
              </a:defRPr>
            </a:pPr>
            <a:r>
              <a:t>Seek opportunities to build relationships and trust with students, teachers, and parents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