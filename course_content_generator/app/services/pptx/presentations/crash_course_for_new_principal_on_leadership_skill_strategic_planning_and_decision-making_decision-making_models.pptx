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9144000" cy="19431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1828800"/>
          </a:xfrm>
          <a:prstGeom prst="rect">
            <a:avLst/>
          </a:prstGeom>
          <a:noFill/>
        </p:spPr>
        <p:txBody>
          <a:bodyPr wrap="square" anchor="ctr">
            <a:spAutoFit/>
          </a:bodyPr>
          <a:lstStyle/>
          <a:p>
            <a:pPr algn="ctr">
              <a:defRPr sz="5400" b="1">
                <a:solidFill>
                  <a:srgbClr val="FFFFFF"/>
                </a:solidFill>
              </a:defRPr>
            </a:pPr>
            <a:r>
              <a:t>Crash Course for New Principal on Leadership Skills</a:t>
            </a:r>
          </a:p>
        </p:txBody>
      </p:sp>
      <p:sp>
        <p:nvSpPr>
          <p:cNvPr id="5" name="TextBox 4"/>
          <p:cNvSpPr txBox="1"/>
          <p:nvPr/>
        </p:nvSpPr>
        <p:spPr>
          <a:xfrm>
            <a:off x="457200" y="3383280"/>
            <a:ext cx="8229600" cy="1371600"/>
          </a:xfrm>
          <a:prstGeom prst="rect">
            <a:avLst/>
          </a:prstGeom>
          <a:noFill/>
        </p:spPr>
        <p:txBody>
          <a:bodyPr wrap="square">
            <a:spAutoFit/>
          </a:bodyPr>
          <a:lstStyle/>
          <a:p>
            <a:pPr algn="ctr">
              <a:defRPr sz="2800">
                <a:solidFill>
                  <a:srgbClr val="1967D2"/>
                </a:solidFill>
              </a:defRPr>
            </a:pPr>
            <a:r>
              <a:t>Module: Strategic Planning and Decision-Making - Lesson: Decision-Making Models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Introduction to Decision-Making Models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2</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Rational Model: A systematic approach to decision-making</a:t>
            </a:r>
          </a:p>
          <a:p>
            <a:pPr>
              <a:spcBef>
                <a:spcPts val="1000"/>
              </a:spcBef>
              <a:spcAft>
                <a:spcPts val="1000"/>
              </a:spcAft>
              <a:defRPr sz="2000">
                <a:solidFill>
                  <a:srgbClr val="323232"/>
                </a:solidFill>
              </a:defRPr>
            </a:pPr>
            <a:r>
              <a:t>Intuitive Model: Relying on experience and instinct</a:t>
            </a:r>
          </a:p>
          <a:p>
            <a:pPr>
              <a:spcBef>
                <a:spcPts val="1000"/>
              </a:spcBef>
              <a:spcAft>
                <a:spcPts val="1000"/>
              </a:spcAft>
              <a:defRPr sz="2000">
                <a:solidFill>
                  <a:srgbClr val="323232"/>
                </a:solidFill>
              </a:defRPr>
            </a:pPr>
            <a:r>
              <a:t>Behavioral Model: Considering psychological and social factors</a:t>
            </a:r>
          </a:p>
          <a:p>
            <a:pPr>
              <a:spcBef>
                <a:spcPts val="1000"/>
              </a:spcBef>
              <a:spcAft>
                <a:spcPts val="1000"/>
              </a:spcAft>
              <a:defRPr sz="2000">
                <a:solidFill>
                  <a:srgbClr val="323232"/>
                </a:solidFill>
              </a:defRPr>
            </a:pPr>
            <a:r>
              <a:t>Political Model: Involving stakeholders and their interests</a:t>
            </a:r>
          </a:p>
          <a:p>
            <a:pPr>
              <a:spcBef>
                <a:spcPts val="1000"/>
              </a:spcBef>
              <a:spcAft>
                <a:spcPts val="1000"/>
              </a:spcAft>
              <a:defRPr sz="2000">
                <a:solidFill>
                  <a:srgbClr val="323232"/>
                </a:solidFill>
              </a:defRPr>
            </a:pPr>
            <a:r>
              <a:t>Garbage Can Model: Embracing uncertainty and ambiguity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The Rational Model in Practice</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3</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The rational model is a systematic approach to decision-making that involves defining the problem, identifying alternatives, evaluating options, and selecting the best choice. This model is useful for complex decisions that require careful analysis and consideration of multiple factors. For example, a school principal might use the rational model to decide whether to implement a new curriculum, considering factors such as cost, teacher training, and potential impact on student outcomes.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Decision-Making Models Matter</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4</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Improves decision quality and reduces errors</a:t>
            </a:r>
          </a:p>
          <a:p>
            <a:pPr>
              <a:spcBef>
                <a:spcPts val="1000"/>
              </a:spcBef>
              <a:spcAft>
                <a:spcPts val="1000"/>
              </a:spcAft>
              <a:defRPr sz="2000">
                <a:solidFill>
                  <a:srgbClr val="323232"/>
                </a:solidFill>
              </a:defRPr>
            </a:pPr>
            <a:r>
              <a:t>Enhances accountability and transparency</a:t>
            </a:r>
          </a:p>
          <a:p>
            <a:pPr>
              <a:spcBef>
                <a:spcPts val="1000"/>
              </a:spcBef>
              <a:spcAft>
                <a:spcPts val="1000"/>
              </a:spcAft>
              <a:defRPr sz="2000">
                <a:solidFill>
                  <a:srgbClr val="323232"/>
                </a:solidFill>
              </a:defRPr>
            </a:pPr>
            <a:r>
              <a:t>Supports collaboration and stakeholder engagement</a:t>
            </a:r>
          </a:p>
          <a:p>
            <a:pPr>
              <a:spcBef>
                <a:spcPts val="1000"/>
              </a:spcBef>
              <a:spcAft>
                <a:spcPts val="1000"/>
              </a:spcAft>
              <a:defRPr sz="2000">
                <a:solidFill>
                  <a:srgbClr val="323232"/>
                </a:solidFill>
              </a:defRPr>
            </a:pPr>
            <a:r>
              <a:t>Fosters a culture of continuous learning and improvement</a:t>
            </a:r>
          </a:p>
          <a:p>
            <a:pPr>
              <a:spcBef>
                <a:spcPts val="1000"/>
              </a:spcBef>
              <a:spcAft>
                <a:spcPts val="1000"/>
              </a:spcAft>
              <a:defRPr sz="2000">
                <a:solidFill>
                  <a:srgbClr val="323232"/>
                </a:solidFill>
              </a:defRPr>
            </a:pPr>
            <a:r>
              <a:t>Helps to manage risk and uncertainty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Applying Decision-Making Models in Real-World Scenarios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5</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Effective decision-making models can be applied in a variety of real-world scenarios, from budget planning to personnel management. For instance, a principal might use the behavioral model to understand the psychological and social factors influencing teacher motivation and job satisfaction. By considering these factors, the principal can develop targeted strategies to support teacher well-being and improve student outcomes. By applying decision-making models, principals can make more informed, effective, and sustainable decisions that drive positive change in their schools.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Takeaways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6</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Decision-making models provide a framework for systematic and informed decision-making</a:t>
            </a:r>
          </a:p>
          <a:p>
            <a:pPr>
              <a:spcBef>
                <a:spcPts val="1000"/>
              </a:spcBef>
              <a:spcAft>
                <a:spcPts val="1000"/>
              </a:spcAft>
              <a:defRPr sz="2000">
                <a:solidFill>
                  <a:srgbClr val="323232"/>
                </a:solidFill>
              </a:defRPr>
            </a:pPr>
            <a:r>
              <a:t>Different models are suited to different contexts and scenarios</a:t>
            </a:r>
          </a:p>
          <a:p>
            <a:pPr>
              <a:spcBef>
                <a:spcPts val="1000"/>
              </a:spcBef>
              <a:spcAft>
                <a:spcPts val="1000"/>
              </a:spcAft>
              <a:defRPr sz="2000">
                <a:solidFill>
                  <a:srgbClr val="323232"/>
                </a:solidFill>
              </a:defRPr>
            </a:pPr>
            <a:r>
              <a:t>Effective decision-making requires consideration of multiple factors and perspectives</a:t>
            </a:r>
          </a:p>
          <a:p>
            <a:pPr>
              <a:spcBef>
                <a:spcPts val="1000"/>
              </a:spcBef>
              <a:spcAft>
                <a:spcPts val="1000"/>
              </a:spcAft>
              <a:defRPr sz="2000">
                <a:solidFill>
                  <a:srgbClr val="323232"/>
                </a:solidFill>
              </a:defRPr>
            </a:pPr>
            <a:r>
              <a:t>Decision-making models can be combined and adapted to suit specific needs</a:t>
            </a:r>
          </a:p>
          <a:p>
            <a:pPr>
              <a:spcBef>
                <a:spcPts val="1000"/>
              </a:spcBef>
              <a:spcAft>
                <a:spcPts val="1000"/>
              </a:spcAft>
              <a:defRPr sz="2000">
                <a:solidFill>
                  <a:srgbClr val="323232"/>
                </a:solidFill>
              </a:defRPr>
            </a:pPr>
            <a:r>
              <a:t>Continuous learning and improvement are essential for effective decision-making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Summary and Next Steps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7</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In this lesson, we explored various decision-making models and their applications in strategic planning and leadership. We discussed the importance of considering multiple factors and perspectives, and the need for continuous learning and improvement. As a new principal, it is essential to develop your decision-making skills and to apply these models in your practice. Remember that decision-making is a skill that can be developed over time with practice, patience, and persistence. By applying the concepts and models presented in this lesson, you can become a more effective and confident decision-maker, and drive positive change in your school and community.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