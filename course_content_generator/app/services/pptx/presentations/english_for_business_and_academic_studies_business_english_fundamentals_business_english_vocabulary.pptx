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9144000" cy="19431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0"/>
            <a:ext cx="8229600" cy="1828800"/>
          </a:xfrm>
          <a:prstGeom prst="rect">
            <a:avLst/>
          </a:prstGeom>
          <a:noFill/>
        </p:spPr>
        <p:txBody>
          <a:bodyPr wrap="square" anchor="ctr">
            <a:spAutoFit/>
          </a:bodyPr>
          <a:lstStyle/>
          <a:p>
            <a:pPr algn="ctr">
              <a:defRPr sz="5400" b="1">
                <a:solidFill>
                  <a:srgbClr val="FFFFFF"/>
                </a:solidFill>
              </a:defRPr>
            </a:pPr>
            <a:r>
              <a:t>Business English Vocabulary</a:t>
            </a:r>
          </a:p>
        </p:txBody>
      </p:sp>
      <p:sp>
        <p:nvSpPr>
          <p:cNvPr id="5" name="TextBox 4"/>
          <p:cNvSpPr txBox="1"/>
          <p:nvPr/>
        </p:nvSpPr>
        <p:spPr>
          <a:xfrm>
            <a:off x="457200" y="3383280"/>
            <a:ext cx="8229600" cy="1371600"/>
          </a:xfrm>
          <a:prstGeom prst="rect">
            <a:avLst/>
          </a:prstGeom>
          <a:noFill/>
        </p:spPr>
        <p:txBody>
          <a:bodyPr wrap="square">
            <a:spAutoFit/>
          </a:bodyPr>
          <a:lstStyle/>
          <a:p>
            <a:pPr algn="ctr">
              <a:defRPr sz="2800">
                <a:solidFill>
                  <a:srgbClr val="1967D2"/>
                </a:solidFill>
              </a:defRPr>
            </a:pPr>
            <a:r>
              <a:t>Introduction to key business English terms and phrases for advanced learners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Essential Business English Terms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2</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800"/>
              </a:spcBef>
              <a:spcAft>
                <a:spcPts val="800"/>
              </a:spcAft>
              <a:defRPr sz="1800">
                <a:solidFill>
                  <a:srgbClr val="323232"/>
                </a:solidFill>
              </a:defRPr>
            </a:pPr>
            <a:r>
              <a:t>• Understanding corporate jargon is crucial for effective communication in the workplace and professional settings.</a:t>
            </a:r>
          </a:p>
          <a:p>
            <a:pPr>
              <a:spcBef>
                <a:spcPts val="800"/>
              </a:spcBef>
              <a:spcAft>
                <a:spcPts val="800"/>
              </a:spcAft>
              <a:defRPr sz="1800">
                <a:solidFill>
                  <a:srgbClr val="323232"/>
                </a:solidFill>
              </a:defRPr>
            </a:pPr>
            <a:r>
              <a:t>• Familiarizing oneself with business English vocabulary enhances career opportunities and networking capabilities.</a:t>
            </a:r>
          </a:p>
          <a:p>
            <a:pPr>
              <a:spcBef>
                <a:spcPts val="800"/>
              </a:spcBef>
              <a:spcAft>
                <a:spcPts val="800"/>
              </a:spcAft>
              <a:defRPr sz="1800">
                <a:solidFill>
                  <a:srgbClr val="323232"/>
                </a:solidFill>
              </a:defRPr>
            </a:pPr>
            <a:r>
              <a:t>• Key terms such as synergy, stakeholders, and ROI are frequently used in business meetings and reports.</a:t>
            </a:r>
          </a:p>
          <a:p>
            <a:pPr>
              <a:spcBef>
                <a:spcPts val="800"/>
              </a:spcBef>
              <a:spcAft>
                <a:spcPts val="800"/>
              </a:spcAft>
              <a:defRPr sz="1800">
                <a:solidFill>
                  <a:srgbClr val="323232"/>
                </a:solidFill>
              </a:defRPr>
            </a:pPr>
            <a:r>
              <a:t>• Mastering business English terminology helps in drafting formal emails, proposals, and presentations.</a:t>
            </a:r>
          </a:p>
          <a:p>
            <a:pPr>
              <a:spcBef>
                <a:spcPts val="800"/>
              </a:spcBef>
              <a:spcAft>
                <a:spcPts val="800"/>
              </a:spcAft>
              <a:defRPr sz="1800">
                <a:solidFill>
                  <a:srgbClr val="323232"/>
                </a:solidFill>
              </a:defRPr>
            </a:pPr>
            <a:r>
              <a:t>• Knowledge of idiomatic expressions commonly used in business contexts facilitates smoother interactions with colleagues and clients.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Introduction to Business English</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3</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800"/>
              </a:spcBef>
              <a:spcAft>
                <a:spcPts val="800"/>
              </a:spcAft>
              <a:defRPr sz="1800">
                <a:solidFill>
                  <a:srgbClr val="323232"/>
                </a:solidFill>
              </a:defRPr>
            </a:pPr>
            <a:r>
              <a:t>• Business English is a specialized form of English used in professional and corporate environments.</a:t>
            </a:r>
          </a:p>
          <a:p>
            <a:pPr>
              <a:spcBef>
                <a:spcPts val="800"/>
              </a:spcBef>
              <a:spcAft>
                <a:spcPts val="800"/>
              </a:spcAft>
              <a:defRPr sz="1800">
                <a:solidFill>
                  <a:srgbClr val="323232"/>
                </a:solidFill>
              </a:defRPr>
            </a:pPr>
            <a:r>
              <a:t>• It encompasses a wide range of vocabulary, from general business terms to industry-specific jargon.</a:t>
            </a:r>
          </a:p>
          <a:p>
            <a:pPr>
              <a:spcBef>
                <a:spcPts val="800"/>
              </a:spcBef>
              <a:spcAft>
                <a:spcPts val="800"/>
              </a:spcAft>
              <a:defRPr sz="1800">
                <a:solidFill>
                  <a:srgbClr val="323232"/>
                </a:solidFill>
              </a:defRPr>
            </a:pPr>
            <a:r>
              <a:t>• Acquiring proficiency in business English is vital for individuals seeking to advance their careers in multinational corporations, international trade, or as entrepreneurs.</a:t>
            </a:r>
          </a:p>
          <a:p>
            <a:pPr>
              <a:spcBef>
                <a:spcPts val="800"/>
              </a:spcBef>
              <a:spcAft>
                <a:spcPts val="800"/>
              </a:spcAft>
              <a:defRPr sz="1800">
                <a:solidFill>
                  <a:srgbClr val="323232"/>
                </a:solidFill>
              </a:defRPr>
            </a:pPr>
            <a:r>
              <a:t>• This lesson aims to introduce advanced learners to fundamental business English vocabulary, enabling them to communicate effectively and confidently in various professional settings.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Why Business English Matters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4</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800"/>
              </a:spcBef>
              <a:spcAft>
                <a:spcPts val="800"/>
              </a:spcAft>
              <a:defRPr sz="1800">
                <a:solidFill>
                  <a:srgbClr val="323232"/>
                </a:solidFill>
              </a:defRPr>
            </a:pPr>
            <a:r>
              <a:t>• In today's globalized economy, business English serves as a common language for international trade and commerce.</a:t>
            </a:r>
          </a:p>
          <a:p>
            <a:pPr>
              <a:spcBef>
                <a:spcPts val="800"/>
              </a:spcBef>
              <a:spcAft>
                <a:spcPts val="800"/>
              </a:spcAft>
              <a:defRPr sz="1800">
                <a:solidFill>
                  <a:srgbClr val="323232"/>
                </a:solidFill>
              </a:defRPr>
            </a:pPr>
            <a:r>
              <a:t>• Proficiency in business English is a highly valued skill by employers worldwide, offering a competitive edge in the job market.</a:t>
            </a:r>
          </a:p>
          <a:p>
            <a:pPr>
              <a:spcBef>
                <a:spcPts val="800"/>
              </a:spcBef>
              <a:spcAft>
                <a:spcPts val="800"/>
              </a:spcAft>
              <a:defRPr sz="1800">
                <a:solidFill>
                  <a:srgbClr val="323232"/>
                </a:solidFill>
              </a:defRPr>
            </a:pPr>
            <a:r>
              <a:t>• Effective business communication prevents misunderstandings, enhances collaboration, and fosters stronger professional relationships.</a:t>
            </a:r>
          </a:p>
          <a:p>
            <a:pPr>
              <a:spcBef>
                <a:spcPts val="800"/>
              </a:spcBef>
              <a:spcAft>
                <a:spcPts val="800"/>
              </a:spcAft>
              <a:defRPr sz="1800">
                <a:solidFill>
                  <a:srgbClr val="323232"/>
                </a:solidFill>
              </a:defRPr>
            </a:pPr>
            <a:r>
              <a:t>• Business English skills are essential for negotiating contracts, conducting market research, and analyzing financial reports.</a:t>
            </a:r>
          </a:p>
          <a:p>
            <a:pPr>
              <a:spcBef>
                <a:spcPts val="800"/>
              </a:spcBef>
              <a:spcAft>
                <a:spcPts val="800"/>
              </a:spcAft>
              <a:defRPr sz="1800">
                <a:solidFill>
                  <a:srgbClr val="323232"/>
                </a:solidFill>
              </a:defRPr>
            </a:pPr>
            <a:r>
              <a:t>• It plays a critical role in marketing and advertising, helping businesses to reach a broader audience and expand their customer base.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Applying Business English in Real-World Scenarios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5</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800"/>
              </a:spcBef>
              <a:spcAft>
                <a:spcPts val="800"/>
              </a:spcAft>
              <a:defRPr sz="1800">
                <a:solidFill>
                  <a:srgbClr val="323232"/>
                </a:solidFill>
              </a:defRPr>
            </a:pPr>
            <a:r>
              <a:t>• Applying business English in real-world scenarios involves more than just using the right vocabulary; it requires an understanding of the cultural and contextual nuances of business communication.</a:t>
            </a:r>
          </a:p>
          <a:p>
            <a:pPr>
              <a:spcBef>
                <a:spcPts val="800"/>
              </a:spcBef>
              <a:spcAft>
                <a:spcPts val="800"/>
              </a:spcAft>
              <a:defRPr sz="1800">
                <a:solidFill>
                  <a:srgbClr val="323232"/>
                </a:solidFill>
              </a:defRPr>
            </a:pPr>
            <a:r>
              <a:t>• For instance, in a meeting, using phrases such as 'let's touch base' or 'synergize our efforts' can facilitate a more productive discussion.</a:t>
            </a:r>
          </a:p>
          <a:p>
            <a:pPr>
              <a:spcBef>
                <a:spcPts val="800"/>
              </a:spcBef>
              <a:spcAft>
                <a:spcPts val="800"/>
              </a:spcAft>
              <a:defRPr sz="1800">
                <a:solidFill>
                  <a:srgbClr val="323232"/>
                </a:solidFill>
              </a:defRPr>
            </a:pPr>
            <a:r>
              <a:t>• Similarly, in written communication, using formal business English in emails and reports can convey professionalism and attention to detail.</a:t>
            </a:r>
          </a:p>
          <a:p>
            <a:pPr>
              <a:spcBef>
                <a:spcPts val="800"/>
              </a:spcBef>
              <a:spcAft>
                <a:spcPts val="800"/>
              </a:spcAft>
              <a:defRPr sz="1800">
                <a:solidFill>
                  <a:srgbClr val="323232"/>
                </a:solidFill>
              </a:defRPr>
            </a:pPr>
            <a:r>
              <a:t>• By mastering these skills, individuals can navigate complex business situations with confidence and achieve their professional goals more effectively.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Key Takeaways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6</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800"/>
              </a:spcBef>
              <a:spcAft>
                <a:spcPts val="800"/>
              </a:spcAft>
              <a:defRPr sz="1800">
                <a:solidFill>
                  <a:srgbClr val="323232"/>
                </a:solidFill>
              </a:defRPr>
            </a:pPr>
            <a:r>
              <a:t>• Business English vocabulary is fundamental for professional communication and career advancement.</a:t>
            </a:r>
          </a:p>
          <a:p>
            <a:pPr>
              <a:spcBef>
                <a:spcPts val="800"/>
              </a:spcBef>
              <a:spcAft>
                <a:spcPts val="800"/>
              </a:spcAft>
              <a:defRPr sz="1800">
                <a:solidFill>
                  <a:srgbClr val="323232"/>
                </a:solidFill>
              </a:defRPr>
            </a:pPr>
            <a:r>
              <a:t>• Understanding the context and cultural nuances of business English is crucial for effective application.</a:t>
            </a:r>
          </a:p>
          <a:p>
            <a:pPr>
              <a:spcBef>
                <a:spcPts val="800"/>
              </a:spcBef>
              <a:spcAft>
                <a:spcPts val="800"/>
              </a:spcAft>
              <a:defRPr sz="1800">
                <a:solidFill>
                  <a:srgbClr val="323232"/>
                </a:solidFill>
              </a:defRPr>
            </a:pPr>
            <a:r>
              <a:t>• Mastering business English enhances one's ability to negotiate, collaborate, and lead in international business environments.</a:t>
            </a:r>
          </a:p>
          <a:p>
            <a:pPr>
              <a:spcBef>
                <a:spcPts val="800"/>
              </a:spcBef>
              <a:spcAft>
                <a:spcPts val="800"/>
              </a:spcAft>
              <a:defRPr sz="1800">
                <a:solidFill>
                  <a:srgbClr val="323232"/>
                </a:solidFill>
              </a:defRPr>
            </a:pPr>
            <a:r>
              <a:t>• Continuous learning and practice of business English terminology and expressions are essential for staying competitive.</a:t>
            </a:r>
          </a:p>
          <a:p>
            <a:pPr>
              <a:spcBef>
                <a:spcPts val="800"/>
              </a:spcBef>
              <a:spcAft>
                <a:spcPts val="800"/>
              </a:spcAft>
              <a:defRPr sz="1800">
                <a:solidFill>
                  <a:srgbClr val="323232"/>
                </a:solidFill>
              </a:defRPr>
            </a:pPr>
            <a:r>
              <a:t>• Applying business English skills in real-world scenarios requires a deep understanding of both the language and the business culture.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Conclusion and Future Learning</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7</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800"/>
              </a:spcBef>
              <a:spcAft>
                <a:spcPts val="800"/>
              </a:spcAft>
              <a:defRPr sz="1800">
                <a:solidFill>
                  <a:srgbClr val="323232"/>
                </a:solidFill>
              </a:defRPr>
            </a:pPr>
            <a:r>
              <a:t>• In conclusion, business English vocabulary is a cornerstone of professional success in today's global business landscape.</a:t>
            </a:r>
          </a:p>
          <a:p>
            <a:pPr>
              <a:spcBef>
                <a:spcPts val="800"/>
              </a:spcBef>
              <a:spcAft>
                <a:spcPts val="800"/>
              </a:spcAft>
              <a:defRPr sz="1800">
                <a:solidFill>
                  <a:srgbClr val="323232"/>
                </a:solidFill>
              </a:defRPr>
            </a:pPr>
            <a:r>
              <a:t>• By grasping key terms, phrases, and expressions, individuals can significantly improve their communication skills, leading to better job opportunities and career growth.</a:t>
            </a:r>
          </a:p>
          <a:p>
            <a:pPr>
              <a:spcBef>
                <a:spcPts val="800"/>
              </a:spcBef>
              <a:spcAft>
                <a:spcPts val="800"/>
              </a:spcAft>
              <a:defRPr sz="1800">
                <a:solidFill>
                  <a:srgbClr val="323232"/>
                </a:solidFill>
              </a:defRPr>
            </a:pPr>
            <a:r>
              <a:t>• For future learning, it is recommended to engage in regular practice, whether through reading business literature, participating in professional workshops, or using online resources to stay updated with the latest business English trends and terminology.</a:t>
            </a:r>
          </a:p>
          <a:p>
            <a:pPr>
              <a:spcBef>
                <a:spcPts val="800"/>
              </a:spcBef>
              <a:spcAft>
                <a:spcPts val="800"/>
              </a:spcAft>
              <a:defRPr sz="1800">
                <a:solidFill>
                  <a:srgbClr val="323232"/>
                </a:solidFill>
              </a:defRPr>
            </a:pPr>
            <a:r>
              <a:t>• Continuous improvement in business English skills will not only enhance professional capabilities but also open up new avenues for personal and professional development.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