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Lst>
  <p:sldSz cx="9144000" cy="51435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1967D2"/>
          </a:solidFill>
          <a:ln>
            <a:solidFill>
              <a:srgbClr val="1967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3200400"/>
            <a:ext cx="9144000" cy="194310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371600"/>
            <a:ext cx="8229600" cy="1828800"/>
          </a:xfrm>
          <a:prstGeom prst="rect">
            <a:avLst/>
          </a:prstGeom>
          <a:noFill/>
        </p:spPr>
        <p:txBody>
          <a:bodyPr wrap="square" anchor="ctr">
            <a:spAutoFit/>
          </a:bodyPr>
          <a:lstStyle/>
          <a:p>
            <a:pPr algn="ctr">
              <a:defRPr sz="5400" b="1">
                <a:solidFill>
                  <a:srgbClr val="FFFFFF"/>
                </a:solidFill>
              </a:defRPr>
            </a:pPr>
            <a:r>
              <a:t>Crash Course for New Principals: Leadership Skills</a:t>
            </a:r>
          </a:p>
        </p:txBody>
      </p:sp>
      <p:sp>
        <p:nvSpPr>
          <p:cNvPr id="5" name="TextBox 4"/>
          <p:cNvSpPr txBox="1"/>
          <p:nvPr/>
        </p:nvSpPr>
        <p:spPr>
          <a:xfrm>
            <a:off x="457200" y="3383280"/>
            <a:ext cx="8229600" cy="1371600"/>
          </a:xfrm>
          <a:prstGeom prst="rect">
            <a:avLst/>
          </a:prstGeom>
          <a:noFill/>
        </p:spPr>
        <p:txBody>
          <a:bodyPr wrap="square">
            <a:spAutoFit/>
          </a:bodyPr>
          <a:lstStyle/>
          <a:p>
            <a:pPr algn="ctr">
              <a:defRPr sz="2800">
                <a:solidFill>
                  <a:srgbClr val="1967D2"/>
                </a:solidFill>
              </a:defRPr>
            </a:pPr>
            <a:r>
              <a:t>Module: Communication Skills - Lesson: Active Listening</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144000" cy="731520"/>
          </a:xfrm>
          <a:prstGeom prst="rect">
            <a:avLst/>
          </a:prstGeom>
          <a:solidFill>
            <a:srgbClr val="1967D2"/>
          </a:solidFill>
          <a:ln>
            <a:solidFill>
              <a:srgbClr val="1967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731520"/>
            <a:ext cx="73152" cy="4411980"/>
          </a:xfrm>
          <a:prstGeom prst="rect">
            <a:avLst/>
          </a:prstGeom>
          <a:solidFill>
            <a:srgbClr val="4285F4"/>
          </a:solidFill>
          <a:ln>
            <a:solidFill>
              <a:srgbClr val="4285F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37160"/>
            <a:ext cx="8229600" cy="457200"/>
          </a:xfrm>
          <a:prstGeom prst="rect">
            <a:avLst/>
          </a:prstGeom>
          <a:noFill/>
        </p:spPr>
        <p:txBody>
          <a:bodyPr wrap="none" anchor="ctr">
            <a:spAutoFit/>
          </a:bodyPr>
          <a:lstStyle/>
          <a:p>
            <a:pPr>
              <a:defRPr sz="4000" b="1">
                <a:solidFill>
                  <a:srgbClr val="FFFFFF"/>
                </a:solidFill>
              </a:defRPr>
            </a:pPr>
            <a:r>
              <a:t>What is Active Listening?</a:t>
            </a:r>
          </a:p>
        </p:txBody>
      </p:sp>
      <p:sp>
        <p:nvSpPr>
          <p:cNvPr id="6" name="TextBox 5"/>
          <p:cNvSpPr txBox="1"/>
          <p:nvPr/>
        </p:nvSpPr>
        <p:spPr>
          <a:xfrm>
            <a:off x="7772400" y="182880"/>
            <a:ext cx="1097280" cy="365760"/>
          </a:xfrm>
          <a:prstGeom prst="rect">
            <a:avLst/>
          </a:prstGeom>
          <a:noFill/>
        </p:spPr>
        <p:txBody>
          <a:bodyPr wrap="none">
            <a:spAutoFit/>
          </a:bodyPr>
          <a:lstStyle/>
          <a:p>
            <a:pPr>
              <a:defRPr sz="1600">
                <a:solidFill>
                  <a:srgbClr val="FFFFFF"/>
                </a:solidFill>
              </a:defRPr>
            </a:pPr>
            <a:r>
              <a:t>2</a:t>
            </a:r>
          </a:p>
        </p:txBody>
      </p:sp>
      <p:sp>
        <p:nvSpPr>
          <p:cNvPr id="7" name="TextBox 6"/>
          <p:cNvSpPr txBox="1"/>
          <p:nvPr/>
        </p:nvSpPr>
        <p:spPr>
          <a:xfrm>
            <a:off x="640080" y="1097280"/>
            <a:ext cx="7863840" cy="3657600"/>
          </a:xfrm>
          <a:prstGeom prst="rect">
            <a:avLst/>
          </a:prstGeom>
          <a:noFill/>
        </p:spPr>
        <p:txBody>
          <a:bodyPr wrap="square">
            <a:spAutoFit/>
          </a:bodyPr>
          <a:lstStyle/>
          <a:p>
            <a:pPr>
              <a:spcBef>
                <a:spcPts val="1000"/>
              </a:spcBef>
              <a:spcAft>
                <a:spcPts val="1000"/>
              </a:spcAft>
              <a:defRPr sz="2000">
                <a:solidFill>
                  <a:srgbClr val="323232"/>
                </a:solidFill>
              </a:defRPr>
            </a:pPr>
            <a:r>
              <a:t>Giving the speaker your undivided attention</a:t>
            </a:r>
          </a:p>
          <a:p>
            <a:pPr>
              <a:spcBef>
                <a:spcPts val="1000"/>
              </a:spcBef>
              <a:spcAft>
                <a:spcPts val="1000"/>
              </a:spcAft>
              <a:defRPr sz="2000">
                <a:solidFill>
                  <a:srgbClr val="323232"/>
                </a:solidFill>
              </a:defRPr>
            </a:pPr>
            <a:r>
              <a:t>Using verbal and non-verbal cues to show engagement</a:t>
            </a:r>
          </a:p>
          <a:p>
            <a:pPr>
              <a:spcBef>
                <a:spcPts val="1000"/>
              </a:spcBef>
              <a:spcAft>
                <a:spcPts val="1000"/>
              </a:spcAft>
              <a:defRPr sz="2000">
                <a:solidFill>
                  <a:srgbClr val="323232"/>
                </a:solidFill>
              </a:defRPr>
            </a:pPr>
            <a:r>
              <a:t>Paraphrasing and summarizing to ensure understanding</a:t>
            </a:r>
          </a:p>
          <a:p>
            <a:pPr>
              <a:spcBef>
                <a:spcPts val="1000"/>
              </a:spcBef>
              <a:spcAft>
                <a:spcPts val="1000"/>
              </a:spcAft>
              <a:defRPr sz="2000">
                <a:solidFill>
                  <a:srgbClr val="323232"/>
                </a:solidFill>
              </a:defRPr>
            </a:pPr>
            <a:r>
              <a:t>Asking open-ended questions to encourage sharing</a:t>
            </a:r>
          </a:p>
          <a:p>
            <a:pPr>
              <a:spcBef>
                <a:spcPts val="1000"/>
              </a:spcBef>
              <a:spcAft>
                <a:spcPts val="1000"/>
              </a:spcAft>
              <a:defRPr sz="2000">
                <a:solidFill>
                  <a:srgbClr val="323232"/>
                </a:solidFill>
              </a:defRPr>
            </a:pPr>
            <a:r>
              <a:t>Avoiding interrupting or mentally preparing your response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144000" cy="731520"/>
          </a:xfrm>
          <a:prstGeom prst="rect">
            <a:avLst/>
          </a:prstGeom>
          <a:solidFill>
            <a:srgbClr val="1967D2"/>
          </a:solidFill>
          <a:ln>
            <a:solidFill>
              <a:srgbClr val="1967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731520"/>
            <a:ext cx="73152" cy="4411980"/>
          </a:xfrm>
          <a:prstGeom prst="rect">
            <a:avLst/>
          </a:prstGeom>
          <a:solidFill>
            <a:srgbClr val="4285F4"/>
          </a:solidFill>
          <a:ln>
            <a:solidFill>
              <a:srgbClr val="4285F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37160"/>
            <a:ext cx="8229600" cy="457200"/>
          </a:xfrm>
          <a:prstGeom prst="rect">
            <a:avLst/>
          </a:prstGeom>
          <a:noFill/>
        </p:spPr>
        <p:txBody>
          <a:bodyPr wrap="none" anchor="ctr">
            <a:spAutoFit/>
          </a:bodyPr>
          <a:lstStyle/>
          <a:p>
            <a:pPr>
              <a:defRPr sz="4000" b="1">
                <a:solidFill>
                  <a:srgbClr val="FFFFFF"/>
                </a:solidFill>
              </a:defRPr>
            </a:pPr>
            <a:r>
              <a:t>The Importance of Active Listening in Leadership</a:t>
            </a:r>
          </a:p>
        </p:txBody>
      </p:sp>
      <p:sp>
        <p:nvSpPr>
          <p:cNvPr id="6" name="TextBox 5"/>
          <p:cNvSpPr txBox="1"/>
          <p:nvPr/>
        </p:nvSpPr>
        <p:spPr>
          <a:xfrm>
            <a:off x="7772400" y="182880"/>
            <a:ext cx="1097280" cy="365760"/>
          </a:xfrm>
          <a:prstGeom prst="rect">
            <a:avLst/>
          </a:prstGeom>
          <a:noFill/>
        </p:spPr>
        <p:txBody>
          <a:bodyPr wrap="none">
            <a:spAutoFit/>
          </a:bodyPr>
          <a:lstStyle/>
          <a:p>
            <a:pPr>
              <a:defRPr sz="1600">
                <a:solidFill>
                  <a:srgbClr val="FFFFFF"/>
                </a:solidFill>
              </a:defRPr>
            </a:pPr>
            <a:r>
              <a:t>3</a:t>
            </a:r>
          </a:p>
        </p:txBody>
      </p:sp>
      <p:sp>
        <p:nvSpPr>
          <p:cNvPr id="7" name="TextBox 6"/>
          <p:cNvSpPr txBox="1"/>
          <p:nvPr/>
        </p:nvSpPr>
        <p:spPr>
          <a:xfrm>
            <a:off x="640080" y="1097280"/>
            <a:ext cx="7863840" cy="3657600"/>
          </a:xfrm>
          <a:prstGeom prst="rect">
            <a:avLst/>
          </a:prstGeom>
          <a:noFill/>
        </p:spPr>
        <p:txBody>
          <a:bodyPr wrap="square">
            <a:spAutoFit/>
          </a:bodyPr>
          <a:lstStyle/>
          <a:p>
            <a:pPr>
              <a:lnSpc>
                <a:spcPct val="150000"/>
              </a:lnSpc>
              <a:spcAft>
                <a:spcPts val="1200"/>
              </a:spcAft>
              <a:defRPr sz="1800">
                <a:solidFill>
                  <a:srgbClr val="323232"/>
                </a:solidFill>
              </a:defRPr>
            </a:pPr>
            <a:r>
              <a:t>Active listening is crucial for leaders as it helps build trust, resolve conflicts, and foster a positive work environment. By actively listening to their team members, leaders can gain a deeper understanding of their needs, concerns, and ideas, which can lead to better decision-making and improved collaboration. Moreover, active listening demonstrates respect and empathy, which are essential for effective communication and strong relationships.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144000" cy="731520"/>
          </a:xfrm>
          <a:prstGeom prst="rect">
            <a:avLst/>
          </a:prstGeom>
          <a:solidFill>
            <a:srgbClr val="1967D2"/>
          </a:solidFill>
          <a:ln>
            <a:solidFill>
              <a:srgbClr val="1967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731520"/>
            <a:ext cx="73152" cy="4411980"/>
          </a:xfrm>
          <a:prstGeom prst="rect">
            <a:avLst/>
          </a:prstGeom>
          <a:solidFill>
            <a:srgbClr val="4285F4"/>
          </a:solidFill>
          <a:ln>
            <a:solidFill>
              <a:srgbClr val="4285F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37160"/>
            <a:ext cx="8229600" cy="457200"/>
          </a:xfrm>
          <a:prstGeom prst="rect">
            <a:avLst/>
          </a:prstGeom>
          <a:noFill/>
        </p:spPr>
        <p:txBody>
          <a:bodyPr wrap="none" anchor="ctr">
            <a:spAutoFit/>
          </a:bodyPr>
          <a:lstStyle/>
          <a:p>
            <a:pPr>
              <a:defRPr sz="4000" b="1">
                <a:solidFill>
                  <a:srgbClr val="FFFFFF"/>
                </a:solidFill>
              </a:defRPr>
            </a:pPr>
            <a:r>
              <a:t>Benefits of Active Listening</a:t>
            </a:r>
          </a:p>
        </p:txBody>
      </p:sp>
      <p:sp>
        <p:nvSpPr>
          <p:cNvPr id="6" name="TextBox 5"/>
          <p:cNvSpPr txBox="1"/>
          <p:nvPr/>
        </p:nvSpPr>
        <p:spPr>
          <a:xfrm>
            <a:off x="7772400" y="182880"/>
            <a:ext cx="1097280" cy="365760"/>
          </a:xfrm>
          <a:prstGeom prst="rect">
            <a:avLst/>
          </a:prstGeom>
          <a:noFill/>
        </p:spPr>
        <p:txBody>
          <a:bodyPr wrap="none">
            <a:spAutoFit/>
          </a:bodyPr>
          <a:lstStyle/>
          <a:p>
            <a:pPr>
              <a:defRPr sz="1600">
                <a:solidFill>
                  <a:srgbClr val="FFFFFF"/>
                </a:solidFill>
              </a:defRPr>
            </a:pPr>
            <a:r>
              <a:t>4</a:t>
            </a:r>
          </a:p>
        </p:txBody>
      </p:sp>
      <p:sp>
        <p:nvSpPr>
          <p:cNvPr id="7" name="TextBox 6"/>
          <p:cNvSpPr txBox="1"/>
          <p:nvPr/>
        </p:nvSpPr>
        <p:spPr>
          <a:xfrm>
            <a:off x="640080" y="1097280"/>
            <a:ext cx="7863840" cy="3657600"/>
          </a:xfrm>
          <a:prstGeom prst="rect">
            <a:avLst/>
          </a:prstGeom>
          <a:noFill/>
        </p:spPr>
        <p:txBody>
          <a:bodyPr wrap="square">
            <a:spAutoFit/>
          </a:bodyPr>
          <a:lstStyle/>
          <a:p>
            <a:pPr>
              <a:spcBef>
                <a:spcPts val="1000"/>
              </a:spcBef>
              <a:spcAft>
                <a:spcPts val="1000"/>
              </a:spcAft>
              <a:defRPr sz="2000">
                <a:solidFill>
                  <a:srgbClr val="323232"/>
                </a:solidFill>
              </a:defRPr>
            </a:pPr>
            <a:r>
              <a:t>Improved communication and reduced misunderstandings</a:t>
            </a:r>
          </a:p>
          <a:p>
            <a:pPr>
              <a:spcBef>
                <a:spcPts val="1000"/>
              </a:spcBef>
              <a:spcAft>
                <a:spcPts val="1000"/>
              </a:spcAft>
              <a:defRPr sz="2000">
                <a:solidFill>
                  <a:srgbClr val="323232"/>
                </a:solidFill>
              </a:defRPr>
            </a:pPr>
            <a:r>
              <a:t>Increased employee engagement and job satisfaction</a:t>
            </a:r>
          </a:p>
          <a:p>
            <a:pPr>
              <a:spcBef>
                <a:spcPts val="1000"/>
              </a:spcBef>
              <a:spcAft>
                <a:spcPts val="1000"/>
              </a:spcAft>
              <a:defRPr sz="2000">
                <a:solidFill>
                  <a:srgbClr val="323232"/>
                </a:solidFill>
              </a:defRPr>
            </a:pPr>
            <a:r>
              <a:t>Enhanced collaboration and teamwork</a:t>
            </a:r>
          </a:p>
          <a:p>
            <a:pPr>
              <a:spcBef>
                <a:spcPts val="1000"/>
              </a:spcBef>
              <a:spcAft>
                <a:spcPts val="1000"/>
              </a:spcAft>
              <a:defRPr sz="2000">
                <a:solidFill>
                  <a:srgbClr val="323232"/>
                </a:solidFill>
              </a:defRPr>
            </a:pPr>
            <a:r>
              <a:t>Better conflict resolution and problem-solving</a:t>
            </a:r>
          </a:p>
          <a:p>
            <a:pPr>
              <a:spcBef>
                <a:spcPts val="1000"/>
              </a:spcBef>
              <a:spcAft>
                <a:spcPts val="1000"/>
              </a:spcAft>
              <a:defRPr sz="2000">
                <a:solidFill>
                  <a:srgbClr val="323232"/>
                </a:solidFill>
              </a:defRPr>
            </a:pPr>
            <a:r>
              <a:t>Increased trust and respect among team members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144000" cy="731520"/>
          </a:xfrm>
          <a:prstGeom prst="rect">
            <a:avLst/>
          </a:prstGeom>
          <a:solidFill>
            <a:srgbClr val="1967D2"/>
          </a:solidFill>
          <a:ln>
            <a:solidFill>
              <a:srgbClr val="1967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731520"/>
            <a:ext cx="73152" cy="4411980"/>
          </a:xfrm>
          <a:prstGeom prst="rect">
            <a:avLst/>
          </a:prstGeom>
          <a:solidFill>
            <a:srgbClr val="4285F4"/>
          </a:solidFill>
          <a:ln>
            <a:solidFill>
              <a:srgbClr val="4285F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37160"/>
            <a:ext cx="8229600" cy="457200"/>
          </a:xfrm>
          <a:prstGeom prst="rect">
            <a:avLst/>
          </a:prstGeom>
          <a:noFill/>
        </p:spPr>
        <p:txBody>
          <a:bodyPr wrap="none" anchor="ctr">
            <a:spAutoFit/>
          </a:bodyPr>
          <a:lstStyle/>
          <a:p>
            <a:pPr>
              <a:defRPr sz="4000" b="1">
                <a:solidFill>
                  <a:srgbClr val="FFFFFF"/>
                </a:solidFill>
              </a:defRPr>
            </a:pPr>
            <a:r>
              <a:t>Why Active Listening Matters</a:t>
            </a:r>
          </a:p>
        </p:txBody>
      </p:sp>
      <p:sp>
        <p:nvSpPr>
          <p:cNvPr id="6" name="TextBox 5"/>
          <p:cNvSpPr txBox="1"/>
          <p:nvPr/>
        </p:nvSpPr>
        <p:spPr>
          <a:xfrm>
            <a:off x="7772400" y="182880"/>
            <a:ext cx="1097280" cy="365760"/>
          </a:xfrm>
          <a:prstGeom prst="rect">
            <a:avLst/>
          </a:prstGeom>
          <a:noFill/>
        </p:spPr>
        <p:txBody>
          <a:bodyPr wrap="none">
            <a:spAutoFit/>
          </a:bodyPr>
          <a:lstStyle/>
          <a:p>
            <a:pPr>
              <a:defRPr sz="1600">
                <a:solidFill>
                  <a:srgbClr val="FFFFFF"/>
                </a:solidFill>
              </a:defRPr>
            </a:pPr>
            <a:r>
              <a:t>5</a:t>
            </a:r>
          </a:p>
        </p:txBody>
      </p:sp>
      <p:sp>
        <p:nvSpPr>
          <p:cNvPr id="7" name="TextBox 6"/>
          <p:cNvSpPr txBox="1"/>
          <p:nvPr/>
        </p:nvSpPr>
        <p:spPr>
          <a:xfrm>
            <a:off x="640080" y="1097280"/>
            <a:ext cx="7863840" cy="3657600"/>
          </a:xfrm>
          <a:prstGeom prst="rect">
            <a:avLst/>
          </a:prstGeom>
          <a:noFill/>
        </p:spPr>
        <p:txBody>
          <a:bodyPr wrap="square">
            <a:spAutoFit/>
          </a:bodyPr>
          <a:lstStyle/>
          <a:p>
            <a:pPr>
              <a:lnSpc>
                <a:spcPct val="150000"/>
              </a:lnSpc>
              <a:spcAft>
                <a:spcPts val="1200"/>
              </a:spcAft>
              <a:defRPr sz="1800">
                <a:solidFill>
                  <a:srgbClr val="323232"/>
                </a:solidFill>
              </a:defRPr>
            </a:pPr>
            <a:r>
              <a:t>In today's fast-paced and often distracting work environment, active listening is more important than ever. With the rise of technology and social media, it's easy to get sidetracked and lose focus on the person speaking. However, by prioritizing active listening, leaders can cut through the noise and truly hear their team members, which can lead to more effective communication, increased productivity, and better outcomes. By making active listening a habit, leaders can set a positive example for their team and create a culture of respect, empathy, and open communication.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144000" cy="731520"/>
          </a:xfrm>
          <a:prstGeom prst="rect">
            <a:avLst/>
          </a:prstGeom>
          <a:solidFill>
            <a:srgbClr val="1967D2"/>
          </a:solidFill>
          <a:ln>
            <a:solidFill>
              <a:srgbClr val="1967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731520"/>
            <a:ext cx="73152" cy="4411980"/>
          </a:xfrm>
          <a:prstGeom prst="rect">
            <a:avLst/>
          </a:prstGeom>
          <a:solidFill>
            <a:srgbClr val="4285F4"/>
          </a:solidFill>
          <a:ln>
            <a:solidFill>
              <a:srgbClr val="4285F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37160"/>
            <a:ext cx="8229600" cy="457200"/>
          </a:xfrm>
          <a:prstGeom prst="rect">
            <a:avLst/>
          </a:prstGeom>
          <a:noFill/>
        </p:spPr>
        <p:txBody>
          <a:bodyPr wrap="none" anchor="ctr">
            <a:spAutoFit/>
          </a:bodyPr>
          <a:lstStyle/>
          <a:p>
            <a:pPr>
              <a:defRPr sz="4000" b="1">
                <a:solidFill>
                  <a:srgbClr val="FFFFFF"/>
                </a:solidFill>
              </a:defRPr>
            </a:pPr>
            <a:r>
              <a:t>Key Strategies for Effective Active Listening</a:t>
            </a:r>
          </a:p>
        </p:txBody>
      </p:sp>
      <p:sp>
        <p:nvSpPr>
          <p:cNvPr id="6" name="TextBox 5"/>
          <p:cNvSpPr txBox="1"/>
          <p:nvPr/>
        </p:nvSpPr>
        <p:spPr>
          <a:xfrm>
            <a:off x="7772400" y="182880"/>
            <a:ext cx="1097280" cy="365760"/>
          </a:xfrm>
          <a:prstGeom prst="rect">
            <a:avLst/>
          </a:prstGeom>
          <a:noFill/>
        </p:spPr>
        <p:txBody>
          <a:bodyPr wrap="none">
            <a:spAutoFit/>
          </a:bodyPr>
          <a:lstStyle/>
          <a:p>
            <a:pPr>
              <a:defRPr sz="1600">
                <a:solidFill>
                  <a:srgbClr val="FFFFFF"/>
                </a:solidFill>
              </a:defRPr>
            </a:pPr>
            <a:r>
              <a:t>6</a:t>
            </a:r>
          </a:p>
        </p:txBody>
      </p:sp>
      <p:sp>
        <p:nvSpPr>
          <p:cNvPr id="7" name="TextBox 6"/>
          <p:cNvSpPr txBox="1"/>
          <p:nvPr/>
        </p:nvSpPr>
        <p:spPr>
          <a:xfrm>
            <a:off x="640080" y="1097280"/>
            <a:ext cx="7863840" cy="3657600"/>
          </a:xfrm>
          <a:prstGeom prst="rect">
            <a:avLst/>
          </a:prstGeom>
          <a:noFill/>
        </p:spPr>
        <p:txBody>
          <a:bodyPr wrap="square">
            <a:spAutoFit/>
          </a:bodyPr>
          <a:lstStyle/>
          <a:p>
            <a:pPr>
              <a:spcBef>
                <a:spcPts val="1000"/>
              </a:spcBef>
              <a:spcAft>
                <a:spcPts val="1000"/>
              </a:spcAft>
              <a:defRPr sz="2000">
                <a:solidFill>
                  <a:srgbClr val="323232"/>
                </a:solidFill>
              </a:defRPr>
            </a:pPr>
            <a:r>
              <a:t>Maintain eye contact and face the speaker</a:t>
            </a:r>
          </a:p>
          <a:p>
            <a:pPr>
              <a:spcBef>
                <a:spcPts val="1000"/>
              </a:spcBef>
              <a:spcAft>
                <a:spcPts val="1000"/>
              </a:spcAft>
              <a:defRPr sz="2000">
                <a:solidFill>
                  <a:srgbClr val="323232"/>
                </a:solidFill>
              </a:defRPr>
            </a:pPr>
            <a:r>
              <a:t>Use verbal cues like 'uh-huh' or 'I see'</a:t>
            </a:r>
          </a:p>
          <a:p>
            <a:pPr>
              <a:spcBef>
                <a:spcPts val="1000"/>
              </a:spcBef>
              <a:spcAft>
                <a:spcPts val="1000"/>
              </a:spcAft>
              <a:defRPr sz="2000">
                <a:solidFill>
                  <a:srgbClr val="323232"/>
                </a:solidFill>
              </a:defRPr>
            </a:pPr>
            <a:r>
              <a:t>Paraphrase and summarize the speaker's message</a:t>
            </a:r>
          </a:p>
          <a:p>
            <a:pPr>
              <a:spcBef>
                <a:spcPts val="1000"/>
              </a:spcBef>
              <a:spcAft>
                <a:spcPts val="1000"/>
              </a:spcAft>
              <a:defRPr sz="2000">
                <a:solidFill>
                  <a:srgbClr val="323232"/>
                </a:solidFill>
              </a:defRPr>
            </a:pPr>
            <a:r>
              <a:t>Ask open-ended questions to encourage sharing</a:t>
            </a:r>
          </a:p>
          <a:p>
            <a:pPr>
              <a:spcBef>
                <a:spcPts val="1000"/>
              </a:spcBef>
              <a:spcAft>
                <a:spcPts val="1000"/>
              </a:spcAft>
              <a:defRPr sz="2000">
                <a:solidFill>
                  <a:srgbClr val="323232"/>
                </a:solidFill>
              </a:defRPr>
            </a:pPr>
            <a:r>
              <a:t>Avoid distractions like phones or side conversations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144000" cy="731520"/>
          </a:xfrm>
          <a:prstGeom prst="rect">
            <a:avLst/>
          </a:prstGeom>
          <a:solidFill>
            <a:srgbClr val="1967D2"/>
          </a:solidFill>
          <a:ln>
            <a:solidFill>
              <a:srgbClr val="1967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731520"/>
            <a:ext cx="73152" cy="4411980"/>
          </a:xfrm>
          <a:prstGeom prst="rect">
            <a:avLst/>
          </a:prstGeom>
          <a:solidFill>
            <a:srgbClr val="4285F4"/>
          </a:solidFill>
          <a:ln>
            <a:solidFill>
              <a:srgbClr val="4285F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37160"/>
            <a:ext cx="8229600" cy="457200"/>
          </a:xfrm>
          <a:prstGeom prst="rect">
            <a:avLst/>
          </a:prstGeom>
          <a:noFill/>
        </p:spPr>
        <p:txBody>
          <a:bodyPr wrap="none" anchor="ctr">
            <a:spAutoFit/>
          </a:bodyPr>
          <a:lstStyle/>
          <a:p>
            <a:pPr>
              <a:defRPr sz="4000" b="1">
                <a:solidFill>
                  <a:srgbClr val="FFFFFF"/>
                </a:solidFill>
              </a:defRPr>
            </a:pPr>
            <a:r>
              <a:t>Key Takeaway: Mastering Active Listening</a:t>
            </a:r>
          </a:p>
        </p:txBody>
      </p:sp>
      <p:sp>
        <p:nvSpPr>
          <p:cNvPr id="6" name="TextBox 5"/>
          <p:cNvSpPr txBox="1"/>
          <p:nvPr/>
        </p:nvSpPr>
        <p:spPr>
          <a:xfrm>
            <a:off x="7772400" y="182880"/>
            <a:ext cx="1097280" cy="365760"/>
          </a:xfrm>
          <a:prstGeom prst="rect">
            <a:avLst/>
          </a:prstGeom>
          <a:noFill/>
        </p:spPr>
        <p:txBody>
          <a:bodyPr wrap="none">
            <a:spAutoFit/>
          </a:bodyPr>
          <a:lstStyle/>
          <a:p>
            <a:pPr>
              <a:defRPr sz="1600">
                <a:solidFill>
                  <a:srgbClr val="FFFFFF"/>
                </a:solidFill>
              </a:defRPr>
            </a:pPr>
            <a:r>
              <a:t>7</a:t>
            </a:r>
          </a:p>
        </p:txBody>
      </p:sp>
      <p:sp>
        <p:nvSpPr>
          <p:cNvPr id="7" name="TextBox 6"/>
          <p:cNvSpPr txBox="1"/>
          <p:nvPr/>
        </p:nvSpPr>
        <p:spPr>
          <a:xfrm>
            <a:off x="640080" y="1097280"/>
            <a:ext cx="7863840" cy="3657600"/>
          </a:xfrm>
          <a:prstGeom prst="rect">
            <a:avLst/>
          </a:prstGeom>
          <a:noFill/>
        </p:spPr>
        <p:txBody>
          <a:bodyPr wrap="square">
            <a:spAutoFit/>
          </a:bodyPr>
          <a:lstStyle/>
          <a:p>
            <a:pPr>
              <a:lnSpc>
                <a:spcPct val="150000"/>
              </a:lnSpc>
              <a:spcAft>
                <a:spcPts val="1200"/>
              </a:spcAft>
              <a:defRPr sz="1800">
                <a:solidFill>
                  <a:srgbClr val="323232"/>
                </a:solidFill>
              </a:defRPr>
            </a:pPr>
            <a:r>
              <a:t>Mastering active listening takes practice, but it's a skill that can be developed over time with patience, dedication, and self-awareness. By incorporating active listening into their daily interactions, leaders can become more effective communicators, build stronger relationships, and drive better results. Remember, active listening is not just about hearing the words, but also about understanding the underlying emotions, needs, and concerns. By truly listening to their team members, leaders can unlock the full potential of their team and achieve greater success.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