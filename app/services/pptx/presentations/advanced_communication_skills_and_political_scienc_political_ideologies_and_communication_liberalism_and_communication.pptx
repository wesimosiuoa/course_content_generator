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9144000" cy="19431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8229600" cy="1828800"/>
          </a:xfrm>
          <a:prstGeom prst="rect">
            <a:avLst/>
          </a:prstGeom>
          <a:noFill/>
        </p:spPr>
        <p:txBody>
          <a:bodyPr wrap="square" anchor="ctr">
            <a:spAutoFit/>
          </a:bodyPr>
          <a:lstStyle/>
          <a:p>
            <a:pPr algn="ctr">
              <a:defRPr sz="5400" b="1">
                <a:solidFill>
                  <a:srgbClr val="FFFFFF"/>
                </a:solidFill>
              </a:defRPr>
            </a:pPr>
            <a:r>
              <a:t>Liberalism and Communication</a:t>
            </a:r>
          </a:p>
        </p:txBody>
      </p:sp>
      <p:sp>
        <p:nvSpPr>
          <p:cNvPr id="5" name="TextBox 4"/>
          <p:cNvSpPr txBox="1"/>
          <p:nvPr/>
        </p:nvSpPr>
        <p:spPr>
          <a:xfrm>
            <a:off x="457200" y="3383280"/>
            <a:ext cx="8229600" cy="1371600"/>
          </a:xfrm>
          <a:prstGeom prst="rect">
            <a:avLst/>
          </a:prstGeom>
          <a:noFill/>
        </p:spPr>
        <p:txBody>
          <a:bodyPr wrap="square">
            <a:spAutoFit/>
          </a:bodyPr>
          <a:lstStyle/>
          <a:p>
            <a:pPr algn="ctr">
              <a:defRPr sz="2800">
                <a:solidFill>
                  <a:srgbClr val="1967D2"/>
                </a:solidFill>
              </a:defRPr>
            </a:pPr>
            <a:r>
              <a:t>Understanding the Influence of Liberal Ideologies on Political Communication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Core Principles of Liberalism</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2</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Emphasis on individual rights and freedoms</a:t>
            </a:r>
          </a:p>
          <a:p>
            <a:pPr>
              <a:spcBef>
                <a:spcPts val="1000"/>
              </a:spcBef>
              <a:spcAft>
                <a:spcPts val="1000"/>
              </a:spcAft>
              <a:defRPr sz="2000">
                <a:solidFill>
                  <a:srgbClr val="323232"/>
                </a:solidFill>
              </a:defRPr>
            </a:pPr>
            <a:r>
              <a:t>Protection of minority rights</a:t>
            </a:r>
          </a:p>
          <a:p>
            <a:pPr>
              <a:spcBef>
                <a:spcPts val="1000"/>
              </a:spcBef>
              <a:spcAft>
                <a:spcPts val="1000"/>
              </a:spcAft>
              <a:defRPr sz="2000">
                <a:solidFill>
                  <a:srgbClr val="323232"/>
                </a:solidFill>
              </a:defRPr>
            </a:pPr>
            <a:r>
              <a:t>Promotion of social justice and equality</a:t>
            </a:r>
          </a:p>
          <a:p>
            <a:pPr>
              <a:spcBef>
                <a:spcPts val="1000"/>
              </a:spcBef>
              <a:spcAft>
                <a:spcPts val="1000"/>
              </a:spcAft>
              <a:defRPr sz="2000">
                <a:solidFill>
                  <a:srgbClr val="323232"/>
                </a:solidFill>
              </a:defRPr>
            </a:pPr>
            <a:r>
              <a:t>Support for democratic institutions and processes</a:t>
            </a:r>
          </a:p>
          <a:p>
            <a:pPr>
              <a:spcBef>
                <a:spcPts val="1000"/>
              </a:spcBef>
              <a:spcAft>
                <a:spcPts val="1000"/>
              </a:spcAft>
              <a:defRPr sz="2000">
                <a:solidFill>
                  <a:srgbClr val="323232"/>
                </a:solidFill>
              </a:defRPr>
            </a:pPr>
            <a:r>
              <a:t>Advocacy for free and open communication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The Role of Communication in Liberalism</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3</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Effective communication is crucial in liberal societies as it enables the exchange of ideas, facilitates public discourse, and promotes transparency and accountability. Through various channels and mediums, communication helps to disseminate information, raise awareness about social issues, and mobilize public support for policy initiatives. In this context, communication is not only a fundamental right but also a vital tool for promoting democratic values and principles.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Key Characteristics of Liberal Communication</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4</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Inclusive and respectful dialogue</a:t>
            </a:r>
          </a:p>
          <a:p>
            <a:pPr>
              <a:spcBef>
                <a:spcPts val="1000"/>
              </a:spcBef>
              <a:spcAft>
                <a:spcPts val="1000"/>
              </a:spcAft>
              <a:defRPr sz="2000">
                <a:solidFill>
                  <a:srgbClr val="323232"/>
                </a:solidFill>
              </a:defRPr>
            </a:pPr>
            <a:r>
              <a:t>Openness to diverse perspectives and opinions</a:t>
            </a:r>
          </a:p>
          <a:p>
            <a:pPr>
              <a:spcBef>
                <a:spcPts val="1000"/>
              </a:spcBef>
              <a:spcAft>
                <a:spcPts val="1000"/>
              </a:spcAft>
              <a:defRPr sz="2000">
                <a:solidFill>
                  <a:srgbClr val="323232"/>
                </a:solidFill>
              </a:defRPr>
            </a:pPr>
            <a:r>
              <a:t>Critical thinking and media literacy</a:t>
            </a:r>
          </a:p>
          <a:p>
            <a:pPr>
              <a:spcBef>
                <a:spcPts val="1000"/>
              </a:spcBef>
              <a:spcAft>
                <a:spcPts val="1000"/>
              </a:spcAft>
              <a:defRPr sz="2000">
                <a:solidFill>
                  <a:srgbClr val="323232"/>
                </a:solidFill>
              </a:defRPr>
            </a:pPr>
            <a:r>
              <a:t>Transparency and accountability in messaging</a:t>
            </a:r>
          </a:p>
          <a:p>
            <a:pPr>
              <a:spcBef>
                <a:spcPts val="1000"/>
              </a:spcBef>
              <a:spcAft>
                <a:spcPts val="1000"/>
              </a:spcAft>
              <a:defRPr sz="2000">
                <a:solidFill>
                  <a:srgbClr val="323232"/>
                </a:solidFill>
              </a:defRPr>
            </a:pPr>
            <a:r>
              <a:t>Empathy and understanding in interpersonal communication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Why Liberal Communication Matters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5</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The way liberals communicate has a significant impact on the political landscape. By promoting inclusive and respectful dialogue, liberals can build bridges across different communities, foster greater understanding, and create a more cohesive society. Effective liberal communication can also counterbalance the influence of extremist or polarizing voices, promoting a more nuanced and balanced public discourse. Ultimately, the success of liberal ideologies depends on their ability to communicate their values and principles in a clear, compelling, and persuasive manner.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Challenges in Liberal Communication</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6</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Balancing free speech with social responsibility</a:t>
            </a:r>
          </a:p>
          <a:p>
            <a:pPr>
              <a:spcBef>
                <a:spcPts val="1000"/>
              </a:spcBef>
              <a:spcAft>
                <a:spcPts val="1000"/>
              </a:spcAft>
              <a:defRPr sz="2000">
                <a:solidFill>
                  <a:srgbClr val="323232"/>
                </a:solidFill>
              </a:defRPr>
            </a:pPr>
            <a:r>
              <a:t>Addressing the spread of misinformation and disinformation</a:t>
            </a:r>
          </a:p>
          <a:p>
            <a:pPr>
              <a:spcBef>
                <a:spcPts val="1000"/>
              </a:spcBef>
              <a:spcAft>
                <a:spcPts val="1000"/>
              </a:spcAft>
              <a:defRPr sz="2000">
                <a:solidFill>
                  <a:srgbClr val="323232"/>
                </a:solidFill>
              </a:defRPr>
            </a:pPr>
            <a:r>
              <a:t>Overcoming echo chambers and filter bubbles</a:t>
            </a:r>
          </a:p>
          <a:p>
            <a:pPr>
              <a:spcBef>
                <a:spcPts val="1000"/>
              </a:spcBef>
              <a:spcAft>
                <a:spcPts val="1000"/>
              </a:spcAft>
              <a:defRPr sz="2000">
                <a:solidFill>
                  <a:srgbClr val="323232"/>
                </a:solidFill>
              </a:defRPr>
            </a:pPr>
            <a:r>
              <a:t>Engaging with diverse audiences and stakeholders</a:t>
            </a:r>
          </a:p>
          <a:p>
            <a:pPr>
              <a:spcBef>
                <a:spcPts val="1000"/>
              </a:spcBef>
              <a:spcAft>
                <a:spcPts val="1000"/>
              </a:spcAft>
              <a:defRPr sz="2000">
                <a:solidFill>
                  <a:srgbClr val="323232"/>
                </a:solidFill>
              </a:defRPr>
            </a:pPr>
            <a:r>
              <a:t>Maintaining credibility and trust in a polarized environment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Key Takeaway</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7</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In conclusion, liberalism and communication are deeply intertwined. By understanding the core principles of liberalism and the key characteristics of liberal communication, individuals can better navigate the complexities of political discourse and promote more effective and inclusive communication. As liberals, it is essential to recognize the importance of communication in advancing democratic values and principles, and to continuously strive for improvement in our communication strategies and practices.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